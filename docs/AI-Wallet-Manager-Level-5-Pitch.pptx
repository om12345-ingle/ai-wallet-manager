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d1a7892b3f4b09" /><Relationship Type="http://schemas.openxmlformats.org/officeDocument/2006/relationships/extended-properties" Target="/docProps/app.xml" Id="R0565b024cf114f42" /><Relationship Type="http://schemas.openxmlformats.org/officeDocument/2006/relationships/officeDocument" Target="/ppt/presentation.xml" Id="Re71dbc179405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79b734a6a44b7"/>
  </p:sldMasterIdLst>
  <p:notesMasterIdLst>
    <p:notesMasterId xmlns:r="http://schemas.openxmlformats.org/officeDocument/2006/relationships" r:id="Rabd53a9f0b14496c"/>
  </p:notesMasterIdLst>
  <p:sldIdLst>
    <p:sldId xmlns:r="http://schemas.openxmlformats.org/officeDocument/2006/relationships" id="256" r:id="R973c4da5ceb04fdd"/>
    <p:sldId xmlns:r="http://schemas.openxmlformats.org/officeDocument/2006/relationships" id="257" r:id="R0403a1567cd946a6"/>
    <p:sldId xmlns:r="http://schemas.openxmlformats.org/officeDocument/2006/relationships" id="258" r:id="R7503c6cc2b3f435b"/>
    <p:sldId xmlns:r="http://schemas.openxmlformats.org/officeDocument/2006/relationships" id="259" r:id="Rc02c267c3a0c4f66"/>
    <p:sldId xmlns:r="http://schemas.openxmlformats.org/officeDocument/2006/relationships" id="260" r:id="Re0287db19349452a"/>
    <p:sldId xmlns:r="http://schemas.openxmlformats.org/officeDocument/2006/relationships" id="261" r:id="R31dcc02c6e434f97"/>
    <p:sldId xmlns:r="http://schemas.openxmlformats.org/officeDocument/2006/relationships" id="262" r:id="R0ec2066168a24225"/>
    <p:sldId xmlns:r="http://schemas.openxmlformats.org/officeDocument/2006/relationships" id="263" r:id="R1775dd81b37e4067"/>
    <p:sldId xmlns:r="http://schemas.openxmlformats.org/officeDocument/2006/relationships" id="264" r:id="R3589add82fa24a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0b0241775b497b" /><Relationship Type="http://schemas.openxmlformats.org/officeDocument/2006/relationships/slideMaster" Target="/ppt/slideMasters/slideMaster1.xml" Id="Re7e79b734a6a44b7" /><Relationship Type="http://schemas.openxmlformats.org/officeDocument/2006/relationships/notesMaster" Target="/ppt/notesMasters/notesMaster1.xml" Id="Rabd53a9f0b14496c" /><Relationship Type="http://schemas.openxmlformats.org/officeDocument/2006/relationships/presProps" Target="/ppt/presProps.xml" Id="R94864228b5a44afa" /><Relationship Type="http://schemas.openxmlformats.org/officeDocument/2006/relationships/tableStyles" Target="/ppt/tableStyles.xml" Id="Rf064955954284739" /><Relationship Type="http://schemas.openxmlformats.org/officeDocument/2006/relationships/slide" Target="/ppt/slides/slide1.xml" Id="R973c4da5ceb04fdd" /><Relationship Type="http://schemas.openxmlformats.org/officeDocument/2006/relationships/slide" Target="/ppt/slides/slide2.xml" Id="R0403a1567cd946a6" /><Relationship Type="http://schemas.openxmlformats.org/officeDocument/2006/relationships/slide" Target="/ppt/slides/slide3.xml" Id="R7503c6cc2b3f435b" /><Relationship Type="http://schemas.openxmlformats.org/officeDocument/2006/relationships/slide" Target="/ppt/slides/slide4.xml" Id="Rc02c267c3a0c4f66" /><Relationship Type="http://schemas.openxmlformats.org/officeDocument/2006/relationships/slide" Target="/ppt/slides/slide5.xml" Id="Re0287db19349452a" /><Relationship Type="http://schemas.openxmlformats.org/officeDocument/2006/relationships/slide" Target="/ppt/slides/slide6.xml" Id="R31dcc02c6e434f97" /><Relationship Type="http://schemas.openxmlformats.org/officeDocument/2006/relationships/slide" Target="/ppt/slides/slide7.xml" Id="R0ec2066168a24225" /><Relationship Type="http://schemas.openxmlformats.org/officeDocument/2006/relationships/slide" Target="/ppt/slides/slide8.xml" Id="R1775dd81b37e4067" /><Relationship Type="http://schemas.openxmlformats.org/officeDocument/2006/relationships/slide" Target="/ppt/slides/slide9.xml" Id="R3589add82fa2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a64d09f1d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dd6632e8d74bca" /><Relationship Type="http://schemas.openxmlformats.org/officeDocument/2006/relationships/notesMaster" Target="/ppt/notesMasters/notesMaster1.xml" Id="Rd0286e72137b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49a81141034e9c" /><Relationship Type="http://schemas.openxmlformats.org/officeDocument/2006/relationships/notesMaster" Target="/ppt/notesMasters/notesMaster1.xml" Id="R42280d1a6ff14c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696c71dc9345fa" /><Relationship Type="http://schemas.openxmlformats.org/officeDocument/2006/relationships/notesMaster" Target="/ppt/notesMasters/notesMaster1.xml" Id="R75f422751d894e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6a8b9833b2469e" /><Relationship Type="http://schemas.openxmlformats.org/officeDocument/2006/relationships/notesMaster" Target="/ppt/notesMasters/notesMaster1.xml" Id="R4b8938486039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6ebdd5c45c476c" /><Relationship Type="http://schemas.openxmlformats.org/officeDocument/2006/relationships/notesMaster" Target="/ppt/notesMasters/notesMaster1.xml" Id="R7befe5d85a1f44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4b7121f4d2418f" /><Relationship Type="http://schemas.openxmlformats.org/officeDocument/2006/relationships/notesMaster" Target="/ppt/notesMasters/notesMaster1.xml" Id="Rd29d67df5e6e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baf1bef5fc4722" /><Relationship Type="http://schemas.openxmlformats.org/officeDocument/2006/relationships/notesMaster" Target="/ppt/notesMasters/notesMaster1.xml" Id="Rb9dea6c458174d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0256a756f84345" /><Relationship Type="http://schemas.openxmlformats.org/officeDocument/2006/relationships/notesMaster" Target="/ppt/notesMasters/notesMaster1.xml" Id="R4e152a40b467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34eb8ac3a145e0" /><Relationship Type="http://schemas.openxmlformats.org/officeDocument/2006/relationships/notesMaster" Target="/ppt/notesMasters/notesMaster1.xml" Id="Reb46528238714e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make Stellar actions understandable without removing user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ingle/docs/screenshots/04-desktop-dashboard.png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ingle/README.md</a:t>
            </a:r>
          </a:p>
          <a:p xmlns:a="http://schemas.openxmlformats.org/drawingml/2006/main">
            <a:r>
              <a:t>- /Users/neelsubhashpote/om ingle/components/ChatInterface.tsx</a:t>
            </a:r>
          </a:p>
          <a:p xmlns:a="http://schemas.openxmlformats.org/drawingml/2006/main">
            <a:r>
              <a:t>- /Users/neelsubhashpote/om ingle/components/pages/ActivityProof.tsx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ingle/components/WalletLoginForm.tsx</a:t>
            </a:r>
          </a:p>
          <a:p xmlns:a="http://schemas.openxmlformats.org/drawingml/2006/main">
            <a:r>
              <a:t>- /Users/neelsubhashpote/om ingle/components/OnboardingChecklist.tsx</a:t>
            </a:r>
          </a:p>
          <a:p xmlns:a="http://schemas.openxmlformats.org/drawingml/2006/main">
            <a:r>
              <a:t>- /Users/neelsubhashpote/om ingle/components/pages/ActivityProof.tsx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ingle/docs/screenshots/03-mobile-dashboard.png</a:t>
            </a:r>
          </a:p>
          <a:p xmlns:a="http://schemas.openxmlformats.org/drawingml/2006/main">
            <a:r>
              <a:t>- /Users/neelsubhashpote/om ingle/docs/screenshots/05-feedback-monitoring.png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ingle/README.md</a:t>
            </a:r>
          </a:p>
          <a:p xmlns:a="http://schemas.openxmlformats.org/drawingml/2006/main">
            <a:r>
              <a:t>- /Users/neelsubhashpote/om ingle/app/api/stellar</a:t>
            </a:r>
          </a:p>
          <a:p xmlns:a="http://schemas.openxmlformats.org/drawingml/2006/main">
            <a:r>
              <a:t>- /Users/neelsubhashpote/om ingle/contracts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ingle/deployments/testnet.json</a:t>
            </a:r>
          </a:p>
          <a:p xmlns:a="http://schemas.openxmlformats.org/drawingml/2006/main">
            <a:r>
              <a:t>- /Users/neelsubhashpote/om ingle/__tests__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unsupported market-size figures are used; the slide frames the beachhead and expansion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ingle/docs/USER_FEEDBACK_SUMMARY.md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ingle/components/OnboardingChecklist.tsx</a:t>
            </a:r>
          </a:p>
          <a:p xmlns:a="http://schemas.openxmlformats.org/drawingml/2006/main">
            <a:r>
              <a:t>- /Users/neelsubhashpote/om ingle/components/pages/Feedback.tsx</a:t>
            </a:r>
          </a:p>
          <a:p xmlns:a="http://schemas.openxmlformats.org/drawingml/2006/main">
            <a:r>
              <a:t>- /Users/neelsubhashpote/om ingle/components/pages/ActivityProof.tsx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immediate ask: recruit genuine test users and record the observed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/Users/neelsubhashpote/om ingle/README.md</a:t>
            </a:r>
          </a:p>
          <a:p xmlns:a="http://schemas.openxmlformats.org/drawingml/2006/main">
            <a:r>
              <a:t>- /Users/neelsubhashpote/om ingle/docs/DEMO_SCRIPT.md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17832190b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c14b34b7d74863" /><Relationship Type="http://schemas.openxmlformats.org/officeDocument/2006/relationships/slideLayout" Target="/ppt/slideLayouts/slideLayout1.xml" Id="Rcce6ab4f3b454d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6ab4f3b454d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bcd284fc143da" /><Relationship Type="http://schemas.openxmlformats.org/officeDocument/2006/relationships/image" Target="/ppt/media/image.png" Id="R8c0e0e45f7d64378" /><Relationship Type="http://schemas.openxmlformats.org/officeDocument/2006/relationships/notesSlide" Target="/ppt/notesSlides/notesSlide1.xml" Id="R7861b5829ef5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a9d13f5d34a8d" /><Relationship Type="http://schemas.openxmlformats.org/officeDocument/2006/relationships/notesSlide" Target="/ppt/notesSlides/notesSlide2.xml" Id="R318e4cf03d58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cc72494424300" /><Relationship Type="http://schemas.openxmlformats.org/officeDocument/2006/relationships/notesSlide" Target="/ppt/notesSlides/notesSlide3.xml" Id="R8195be2698d144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56764af848c4" /><Relationship Type="http://schemas.openxmlformats.org/officeDocument/2006/relationships/image" Target="/ppt/media/image2.png" Id="R9fba1e4ffc8f4801" /><Relationship Type="http://schemas.openxmlformats.org/officeDocument/2006/relationships/image" Target="/ppt/media/image3.png" Id="R4bc4afeab2084381" /><Relationship Type="http://schemas.openxmlformats.org/officeDocument/2006/relationships/notesSlide" Target="/ppt/notesSlides/notesSlide4.xml" Id="Rdce20d70c2f0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5d21000f44b53" /><Relationship Type="http://schemas.openxmlformats.org/officeDocument/2006/relationships/notesSlide" Target="/ppt/notesSlides/notesSlide5.xml" Id="R8f2facb1b0c4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482b5b623486e" /><Relationship Type="http://schemas.openxmlformats.org/officeDocument/2006/relationships/notesSlide" Target="/ppt/notesSlides/notesSlide6.xml" Id="Rc469a0198dcf4f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8f459ea294359" /><Relationship Type="http://schemas.openxmlformats.org/officeDocument/2006/relationships/notesSlide" Target="/ppt/notesSlides/notesSlide7.xml" Id="Rb6fd3168795a42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84d776b2547ba" /><Relationship Type="http://schemas.openxmlformats.org/officeDocument/2006/relationships/notesSlide" Target="/ppt/notesSlides/notesSlide8.xml" Id="Rac85b65ad6ed4e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07cde22347f7" /><Relationship Type="http://schemas.openxmlformats.org/officeDocument/2006/relationships/notesSlide" Target="/ppt/notesSlides/notesSlide9.xml" Id="R81f3211ce2034e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1C08A-4ED7-4EFF-BBF4-17B0469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STELLAR · LEVEL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5D961-406E-4366-B987-BD9B0612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9090B"/>
                </a:solidFill>
              </a:defRPr>
            </a:pPr>
            <a:r>
              <a:rPr sz="4800" b="1">
                <a:solidFill>
                  <a:srgbClr val="09090B"/>
                </a:solidFill>
              </a:rPr>
              <a:t>AI Wallet</a:t>
            </a:r>
          </a:p>
          <a:p xmlns:a="http://schemas.openxmlformats.org/drawingml/2006/main">
            <a:pPr algn="l">
              <a:defRPr sz="4800" b="1">
                <a:solidFill>
                  <a:srgbClr val="09090B"/>
                </a:solidFill>
              </a:defRPr>
            </a:pPr>
            <a:r>
              <a:rPr sz="4800" b="1">
                <a:solidFill>
                  <a:srgbClr val="09090B"/>
                </a:solidFill>
              </a:rPr>
              <a:t>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8F1C8-4BCA-4F7C-B320-B3815902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9090B"/>
                </a:solidFill>
              </a:defRPr>
            </a:pPr>
            <a:r>
              <a:rPr sz="2025" b="0">
                <a:solidFill>
                  <a:srgbClr val="09090B"/>
                </a:solidFill>
              </a:rPr>
              <a:t>Natural-language wallet actions with on-chain spending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A12B9-ABCD-4CA0-AD9C-623D7B5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25B"/>
                </a:solidFill>
              </a:defRPr>
            </a:pPr>
            <a:r>
              <a:rPr sz="1275" b="0">
                <a:solidFill>
                  <a:srgbClr val="52525B"/>
                </a:solidFill>
              </a:rPr>
              <a:t>Pitch · Product iteration · Growth validation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e0e45f7d64378"/>
          <a:srcRect xmlns:a="http://schemas.openxmlformats.org/drawingml/2006/main" l="16764" t="0" r="16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00050"/>
            <a:ext cx="5581650" cy="590550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</p:spTree>
    <p:extLst>
      <p:ext uri="{BB962C8B-B14F-4D97-AF65-F5344CB8AC3E}">
        <p14:creationId xmlns:p14="http://schemas.microsoft.com/office/powerpoint/2010/main" val="994903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D3AE5-C5D3-434E-90B6-F899D99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PROBLEM AND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44BDC-B61E-44C2-9CAB-78C4280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Wallet power is high; everyday clarity is 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5EE10-358D-40B9-99AF-53BBEC7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37F4C-D46C-4BB5-9CD0-C3849C90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29E5E-FC1F-4F73-B865-5EA8029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THE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FE468-23DE-478E-877C-3742CF8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7AA69-3587-49BE-9A7F-6EAF1235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Addresses and fees intimidate new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09DCE-EBAE-4562-8103-59C2BA4A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FDF09-CEE2-4098-9208-B8C499E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Security rules are scattered across interfaces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B1D45-BB2B-49E0-A369-D4B3E674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9BAC5-917E-4251-8F8A-9781A8E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Transaction proof is hard to package for reviews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EFF94-016D-4167-A7BB-174126D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THE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3ED2B-3777-4390-9ED3-712F217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95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D0184-2E04-42F0-AE31-7887B1F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Plain-English commands with explicit confirmations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93669-9DD0-4894-B922-E3506E0C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CBF26-E0D4-4DFC-A70B-1A0DF6A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Soroban spending limits and wallet freeze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2DC8D-F7A2-4B32-AE8A-6386999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C1D6A-1273-4681-9C0F-18E9749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090B"/>
                </a:solidFill>
              </a:defRPr>
            </a:pPr>
            <a:r>
              <a:rPr sz="1800" b="0">
                <a:solidFill>
                  <a:srgbClr val="09090B"/>
                </a:solidFill>
              </a:rPr>
              <a:t>Ledger-linked activity evidence and CSV export</a:t>
            </a:r>
          </a:p>
        </p:txBody>
      </p:sp>
    </p:spTree>
    <p:extLst>
      <p:ext uri="{BB962C8B-B14F-4D97-AF65-F5344CB8AC3E}">
        <p14:creationId xmlns:p14="http://schemas.microsoft.com/office/powerpoint/2010/main" val="999222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A52F3-1ACC-446F-BB0E-3F3516CA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BDDBD-72F4-4C64-BF85-997FEAC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A guided flow moves users from connection to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44512-86FF-4E0F-985A-DD04A8FD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95601-D845-4B33-B5EF-E8049BF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4CDCC-1003-45A5-8EB7-9968728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2525B"/>
                </a:solidFill>
              </a:defRPr>
            </a:pPr>
            <a:r>
              <a:rPr sz="2550" b="1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A4E2A-576C-4C59-884D-2346268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Connect safely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11C56-1DBA-416B-9031-6B1A37F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Freighter or generated testnet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71DBE-D867-4014-9F98-14FE5C6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BE82-E0E0-4A7B-95A6-24AAB4CF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A6A00"/>
                </a:solidFill>
              </a:defRPr>
            </a:pPr>
            <a:r>
              <a:rPr sz="2550" b="1">
                <a:solidFill>
                  <a:srgbClr val="8A6A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5015B-C4C1-4E9C-A7C7-C9F0111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Act with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1D160-B348-4F43-9B00-9B0E0846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Chat, send, swap, contacts and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E7826-70F5-4D08-86D2-9FD8E5EB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F8034-7BB8-4520-B19D-B22C2FD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2525B"/>
                </a:solidFill>
              </a:defRPr>
            </a:pPr>
            <a:r>
              <a:rPr sz="2550" b="1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9DBD0-69FF-49E4-9EF4-F425A46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Verify on-chain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D74D8-036C-43B2-B98C-56F4F72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62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Explorer links, analytics and evidence CSV</a:t>
            </a:r>
          </a:p>
        </p:txBody>
      </p:sp>
    </p:spTree>
    <p:extLst>
      <p:ext uri="{BB962C8B-B14F-4D97-AF65-F5344CB8AC3E}">
        <p14:creationId xmlns:p14="http://schemas.microsoft.com/office/powerpoint/2010/main" val="1038274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776B-2CFE-4128-87CD-68B17194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PRODUCT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58D61-9026-434C-A0E4-962F6E5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One responsive workspace carries the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A8369-2B65-4D49-9235-BEDC1036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a1e4ffc8f4801"/>
          <a:srcRect xmlns:a="http://schemas.openxmlformats.org/drawingml/2006/main" l="0" t="19284" r="0" b="19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3238500" cy="43053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4afeab2084381"/>
          <a:srcRect xmlns:a="http://schemas.openxmlformats.org/drawingml/2006/main" l="0" t="8590" r="0" b="8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752600"/>
            <a:ext cx="73914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1070388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C68FB-229A-41DA-B519-CCD0EE4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B8FBB-FA51-48D7-8481-43A7928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The architecture separates experience, policy and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352D8-F345-40CD-A5D8-2824B58A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0D55B-CBB8-4405-9C4D-09A6B054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EC2D-72A8-4A30-896A-771A163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Next.js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4EC75-9E7D-48CF-9C35-C2827E1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Responsive UI · onboarding ·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1BDB1-9D77-4DAC-8E36-4C4AAFC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CF855-0EB7-4FE4-90CE-DCD5833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Typed API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A26E9-FE00-4B24-BBB4-A2AD90DE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AI parsing · Horizon · transaction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D12B1-61E7-433B-A505-ED308D5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33625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0E0E5-796E-42D0-9455-6C074B56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Soroban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B166E-285F-41BB-959F-0D280D0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Limits · freeze state · contact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8804-71A9-4ED5-AFF8-09963FE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C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9540C-4933-4ED9-A1F6-9C912B2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Stellar testnet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F1B21-4E29-4761-A880-1F6F3E45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813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Horizon + Soroban RPC · immutable settlement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60EF6-E1A9-4110-8F88-9082EC1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38C2C-7A07-4016-8A13-5386FD2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A5371-213D-4689-B354-CDE84CC4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498992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91115-268D-441C-8A90-82E1FEA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CURRENT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59E17-186A-486E-B5D6-4EA35DA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The deployed MVP is independently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B2C74-049F-4CC3-A66F-8E795DCF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D1E96-8326-459F-8C5D-47FF678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9090B"/>
                </a:solidFill>
              </a:defRPr>
            </a:pPr>
            <a:r>
              <a:rPr sz="5400" b="1">
                <a:solidFill>
                  <a:srgbClr val="09090B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B1857-C8B0-4956-92CD-B7ED2CC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confirmed contract deployment and configuration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E4EF8-494C-486C-858D-5577FA1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9090B"/>
                </a:solidFill>
              </a:defRPr>
            </a:pPr>
            <a:r>
              <a:rPr sz="5400" b="1">
                <a:solidFill>
                  <a:srgbClr val="09090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84573-9E05-41CB-9E1D-CEBF022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deployed Soroban contracts on Stellar testnet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2303E-A9E7-40D7-AADC-1D1687D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9090B"/>
                </a:solidFill>
              </a:defRPr>
            </a:pPr>
            <a:r>
              <a:rPr sz="5400" b="1">
                <a:solidFill>
                  <a:srgbClr val="09090B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06837-B43E-4AD7-BCAF-AA4097EF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automated JavaScript tests after the Level 5 activity-proof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9064-9EC8-45F8-AE40-68A82C1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Wallet Guard · CBLWI…G7DQ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8A3AA-4DC7-4CA5-A121-5BF841A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</a:defRPr>
            </a:pPr>
            <a:r>
              <a:rPr sz="1350" b="0">
                <a:solidFill>
                  <a:srgbClr val="52525B"/>
                </a:solidFill>
              </a:rPr>
              <a:t>Multi Asset Manager · CAVY…4CXD</a:t>
            </a:r>
          </a:p>
        </p:txBody>
      </p:sp>
    </p:spTree>
    <p:extLst>
      <p:ext uri="{BB962C8B-B14F-4D97-AF65-F5344CB8AC3E}">
        <p14:creationId xmlns:p14="http://schemas.microsoft.com/office/powerpoint/2010/main" val="323363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38192-AEB3-4D66-87F8-F68DE92A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F915-3B1B-4098-B8BB-BFD52B7E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The opportunity is the usability layer above on-chain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0C1C4-F3C7-425B-BD9F-88D5CCB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4F24-B464-4A93-A0C1-5E6DCCD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Start narrow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CB285-BB81-435F-B6F2-80E01D75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9090B"/>
                </a:solidFill>
              </a:defRPr>
            </a:pPr>
            <a:r>
              <a:rPr sz="1725" b="0">
                <a:solidFill>
                  <a:srgbClr val="09090B"/>
                </a:solidFill>
              </a:rPr>
              <a:t>Stellar testnet builders and first-time wallet users who need a safe guided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ABF7C-6B7D-4891-94D1-A6A06014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Expand through use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EE725-1267-4461-B844-F22FCBFC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24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9090B"/>
                </a:solidFill>
              </a:defRPr>
            </a:pPr>
            <a:r>
              <a:rPr sz="1725" b="0">
                <a:solidFill>
                  <a:srgbClr val="09090B"/>
                </a:solidFill>
              </a:rPr>
              <a:t>Freelancer payments, small-team treasury controls and reusable wallet policy tooling.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D0A4A-8CAE-4948-8F22-E5913A7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Create an ecosystem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38134-EED7-4113-9C61-723222A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9090B"/>
                </a:solidFill>
              </a:defRPr>
            </a:pPr>
            <a:r>
              <a:rPr sz="1725" b="0">
                <a:solidFill>
                  <a:srgbClr val="09090B"/>
                </a:solidFill>
              </a:rPr>
              <a:t>A composable interface where AI explains intent and Soroban enforces 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7D7BF-FEDD-41DD-B29A-EF6C61F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25B"/>
                </a:solidFill>
              </a:defRPr>
            </a:pPr>
            <a:r>
              <a:rPr sz="1500" b="0">
                <a:solidFill>
                  <a:srgbClr val="52525B"/>
                </a:solidFill>
              </a:rPr>
              <a:t>Market sizing will be quantified only after the 50-wallet study establishes acquisition and retention baselines.</a:t>
            </a:r>
          </a:p>
        </p:txBody>
      </p:sp>
    </p:spTree>
    <p:extLst>
      <p:ext uri="{BB962C8B-B14F-4D97-AF65-F5344CB8AC3E}">
        <p14:creationId xmlns:p14="http://schemas.microsoft.com/office/powerpoint/2010/main" val="279650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ABC28-E3FE-4DD6-A1FB-E4E1DA6C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0EAB2-5F84-4E39-9C65-7E86119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Growth becomes a measurable product-learning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8240B-12E2-4EA3-9BF0-54C6446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B8021-CBEA-4D61-9502-526087D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54A6F-C65C-418F-837F-7C841B5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Acquire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1358A-A2CC-4D73-BE8E-E8208433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Developer communities, campus groups and Stellar ecosystem demos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C47ED-A1B0-4528-8866-61AA33FA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28A76-4A12-478E-9E47-081E1E9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68072-DFAD-4586-8DB0-F86A649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Five-step onboarding with a funded wallet and first verified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51F54-3FD1-4936-B84F-F16974BE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FCB7F-3EFD-4027-A159-CFC44A7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A0B3D-91CE-4588-816A-DF703E13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Rating, friction theme, requested feature and transaction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53DF-BD99-4F01-A113-51553E2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8C1AB-A7DE-4D21-B127-00ABCBBF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90B"/>
                </a:solidFill>
              </a:defRPr>
            </a:pPr>
            <a:r>
              <a:rPr sz="2025" b="1">
                <a:solidFill>
                  <a:srgbClr val="09090B"/>
                </a:solidFill>
              </a:rPr>
              <a:t>Retain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F5C5F-C05E-4734-8A1C-4730D00B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25B"/>
                </a:solidFill>
              </a:defRPr>
            </a:pPr>
            <a:r>
              <a:rPr sz="1575" b="0">
                <a:solidFill>
                  <a:srgbClr val="52525B"/>
                </a:solidFill>
              </a:rPr>
              <a:t>Saved contacts, spending policies, activity history and follow-up releases</a:t>
            </a:r>
          </a:p>
        </p:txBody>
      </p:sp>
    </p:spTree>
    <p:extLst>
      <p:ext uri="{BB962C8B-B14F-4D97-AF65-F5344CB8AC3E}">
        <p14:creationId xmlns:p14="http://schemas.microsoft.com/office/powerpoint/2010/main" val="1376921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4B12C-A6FB-485D-AA71-70CB483F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25B"/>
                </a:solidFill>
              </a:defRPr>
            </a:pPr>
            <a:r>
              <a:rPr sz="1050" b="1">
                <a:solidFill>
                  <a:srgbClr val="52525B"/>
                </a:solidFill>
              </a:rPr>
              <a:t>ROADMAP AND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AC319-49A3-4270-8CD5-4993037F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B"/>
                </a:solidFill>
              </a:defRPr>
            </a:pPr>
            <a:r>
              <a:rPr sz="3000" b="1">
                <a:solidFill>
                  <a:srgbClr val="09090B"/>
                </a:solidFill>
              </a:rPr>
              <a:t>The next release is driven by observed behavior—not guesses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9DE9-E334-475E-84C6-AC764954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7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3389C-8AF3-4809-8781-87D2E1E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25B"/>
                </a:solidFill>
              </a:defRPr>
            </a:pPr>
            <a:r>
              <a:rPr sz="1350" b="1">
                <a:solidFill>
                  <a:srgbClr val="52525B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3538-F3B8-49D6-8EFB-5DCC6C0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09090B"/>
            </a:solidFill>
            <a:prstDash val="solid"/>
          </a:ln>
        </p:spPr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742950" y="2705100"/>
            <a:ext cx="3676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9B4E4-E0FE-4824-A2F6-97C9846E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50-wallet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F46E1-5230-4818-86C9-349D74D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25B"/>
                </a:solidFill>
              </a:defRPr>
            </a:pPr>
            <a:r>
              <a:rPr sz="1500" b="0">
                <a:solidFill>
                  <a:srgbClr val="52525B"/>
                </a:solidFill>
              </a:rPr>
              <a:t>Real interactions, 2–3 minute cadence, feedback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AE631-8D0C-4629-935E-0DA174E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25B"/>
                </a:solidFill>
              </a:defRPr>
            </a:pPr>
            <a:r>
              <a:rPr sz="1350" b="1">
                <a:solidFill>
                  <a:srgbClr val="52525B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13C95-79CE-49B7-AEBC-9A1B00A7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9090B"/>
            </a:solidFill>
            <a:prstDash val="solid"/>
          </a:ln>
        </p:spPr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0" y="2705100"/>
            <a:ext cx="3676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FED06-1C65-48CB-9B03-612A023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Friction-led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940EC-5716-4A08-9084-9FE3897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57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25B"/>
                </a:solidFill>
              </a:defRPr>
            </a:pPr>
            <a:r>
              <a:rPr sz="1500" b="0">
                <a:solidFill>
                  <a:srgbClr val="52525B"/>
                </a:solidFill>
              </a:rPr>
              <a:t>Ship the highest-frequency onboarding and transaction fixes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C68BD-ED97-4E6C-BE2E-08209B6F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25B"/>
                </a:solidFill>
              </a:defRPr>
            </a:pPr>
            <a:r>
              <a:rPr sz="1350" b="1">
                <a:solidFill>
                  <a:srgbClr val="52525B"/>
                </a:solidFill>
              </a:rPr>
              <a:t>Then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32FE2-98F0-42A3-92D5-9E88009E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909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714A9-AFC8-4016-8129-641528D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Ecosystem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F0C2F-5D9A-49C7-9DA6-5B03BF4A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25B"/>
                </a:solidFill>
              </a:defRPr>
            </a:pPr>
            <a:r>
              <a:rPr sz="1500" b="0">
                <a:solidFill>
                  <a:srgbClr val="52525B"/>
                </a:solidFill>
              </a:rPr>
              <a:t>Demo video, partner presentations and repeat-usage cohort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33367-929D-469F-91C8-D340A2D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</a:defRPr>
            </a:pPr>
            <a:r>
              <a:rPr sz="1650" b="1">
                <a:solidFill>
                  <a:srgbClr val="09090B"/>
                </a:solidFill>
              </a:rPr>
              <a:t>Live product: omyaingle.vercel.app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4AA4E-C448-4E9B-86B0-A08D9183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9090B"/>
                </a:solidFill>
              </a:defRPr>
            </a:pPr>
            <a:r>
              <a:rPr sz="1650" b="1">
                <a:solidFill>
                  <a:srgbClr val="09090B"/>
                </a:solidFill>
              </a:rPr>
              <a:t>GitHub: Om12345-ingle/ai-wallet-manager</a:t>
            </a:r>
          </a:p>
        </p:txBody>
      </p:sp>
    </p:spTree>
    <p:extLst>
      <p:ext uri="{BB962C8B-B14F-4D97-AF65-F5344CB8AC3E}">
        <p14:creationId xmlns:p14="http://schemas.microsoft.com/office/powerpoint/2010/main" val="1115790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2026-08-21T06:45:11.6680000Z</dcterms:created>
  <dcterms:modified xsi:type="dcterms:W3CDTF">2026-08-21T06:45:11.6680000Z</dcterms:modified>
</coreProperties>
</file>